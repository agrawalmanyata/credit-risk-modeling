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136" r:id="rId1"/>
  </p:sldMasterIdLst>
  <p:notesMasterIdLst>
    <p:notesMasterId r:id="rId22"/>
  </p:notesMasterIdLst>
  <p:sldIdLst>
    <p:sldId id="256" r:id="rId2"/>
    <p:sldId id="257" r:id="rId3"/>
    <p:sldId id="275" r:id="rId4"/>
    <p:sldId id="261" r:id="rId5"/>
    <p:sldId id="276" r:id="rId6"/>
    <p:sldId id="262" r:id="rId7"/>
    <p:sldId id="263" r:id="rId8"/>
    <p:sldId id="27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2" r:id="rId19"/>
    <p:sldId id="279" r:id="rId20"/>
    <p:sldId id="274" r:id="rId21"/>
  </p:sldIdLst>
  <p:sldSz cx="9144000" cy="5143500" type="screen16x9"/>
  <p:notesSz cx="6858000" cy="9144000"/>
  <p:embeddedFontLst>
    <p:embeddedFont>
      <p:font typeface="Algerian" panose="04020705040A02060702" pitchFamily="82" charset="0"/>
      <p:regular r:id="rId23"/>
    </p:embeddedFont>
    <p:embeddedFont>
      <p:font typeface="Lato" panose="020B0604020202020204" charset="0"/>
      <p:regular r:id="rId24"/>
      <p:bold r:id="rId25"/>
      <p:italic r:id="rId26"/>
      <p:boldItalic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Wingdings 3" panose="05040102010807070707" pitchFamily="18" charset="2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iti" initials="" lastIdx="1" clrIdx="0"/>
  <p:cmAuthor id="1" name="Agrawal, Manyata" initials="AM" lastIdx="1" clrIdx="1">
    <p:extLst>
      <p:ext uri="{19B8F6BF-5375-455C-9EA6-DF929625EA0E}">
        <p15:presenceInfo xmlns:p15="http://schemas.microsoft.com/office/powerpoint/2012/main" userId="Agrawal, Manyat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A53393-FB41-42BB-97F2-CB3111F40398}">
  <a:tblStyle styleId="{71A53393-FB41-42BB-97F2-CB3111F403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7DA1B9-3E6D-4C7C-8AE3-F326D2F2DA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 autoAdjust="0"/>
    <p:restoredTop sz="94660"/>
  </p:normalViewPr>
  <p:slideViewPr>
    <p:cSldViewPr snapToGrid="0">
      <p:cViewPr varScale="1">
        <p:scale>
          <a:sx n="88" d="100"/>
          <a:sy n="88" d="100"/>
        </p:scale>
        <p:origin x="840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c9cc6263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c9cc6263e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c9cc6263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c9cc6263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c9cc6263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c9cc6263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57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c9cc6263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fc9cc6263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c9cc6263e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fc9cc6263e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c9cc6263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c9cc6263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c9cc6263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fc9cc6263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c9cc6263e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c9cc6263e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fc9cc6263e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fc9cc6263e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c9cc6263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c9cc6263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c9cc6263e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fc9cc6263e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c9cc6263e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fc9cc6263e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c9cc6263e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c9cc6263e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c9cc6263e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c9cc6263e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989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c9cc6263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c9cc6263e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c9cc6263e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c9cc6263e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905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35ae70a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35ae70aa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54358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118887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089414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825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49894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93398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8495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54343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3227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679711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1113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99840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18837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096440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0372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03418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010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118"/>
            <a:ext cx="1767506" cy="5139822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4540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  <p:sldLayoutId id="2147484149" r:id="rId13"/>
    <p:sldLayoutId id="2147484150" r:id="rId14"/>
    <p:sldLayoutId id="2147484151" r:id="rId15"/>
    <p:sldLayoutId id="2147484152" r:id="rId16"/>
    <p:sldLayoutId id="2147484153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1213405" y="1517937"/>
            <a:ext cx="6418324" cy="1962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Algerian" panose="04020705040A02060702" pitchFamily="82" charset="0"/>
              </a:rPr>
              <a:t>Credit Risk Analysis Project</a:t>
            </a:r>
            <a:endParaRPr b="1" dirty="0">
              <a:latin typeface="Algerian" panose="04020705040A02060702" pitchFamily="82" charset="0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422606" y="3480086"/>
            <a:ext cx="3515912" cy="1041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Kolar </a:t>
            </a:r>
            <a:r>
              <a:rPr lang="en-US" sz="1600" dirty="0" err="1" smtClean="0"/>
              <a:t>Nagaraja</a:t>
            </a:r>
            <a:r>
              <a:rPr lang="en-US" sz="1600" dirty="0" smtClean="0"/>
              <a:t> Rao, Ganesh Rao</a:t>
            </a:r>
            <a:endParaRPr sz="16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smtClean="0"/>
              <a:t>Agrawal, Manyata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 smtClean="0"/>
              <a:t>Azeem</a:t>
            </a:r>
            <a:r>
              <a:rPr lang="en-US" sz="1600" dirty="0" smtClean="0"/>
              <a:t>, Syed Omar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Executive Summary</a:t>
            </a:r>
            <a:endParaRPr dirty="0"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943325" y="1414075"/>
            <a:ext cx="7510200" cy="17645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sz="1200" b="1" dirty="0"/>
              <a:t>Objective: </a:t>
            </a:r>
            <a:r>
              <a:rPr lang="en-US" sz="1200" dirty="0"/>
              <a:t>Develop a data-driven Credit Default Risk Model to support smarter credit approval decisions using predictive modeling and AI-based strategies</a:t>
            </a:r>
            <a:r>
              <a:rPr lang="en-US" sz="1200" dirty="0" smtClean="0"/>
              <a:t>.</a:t>
            </a:r>
          </a:p>
          <a:p>
            <a:pPr marL="0" lvl="0" indent="0">
              <a:buNone/>
            </a:pPr>
            <a:endParaRPr lang="en-US" sz="1200" b="1" dirty="0"/>
          </a:p>
          <a:p>
            <a:pPr marL="0" lvl="0" indent="0">
              <a:buNone/>
            </a:pPr>
            <a:r>
              <a:rPr lang="en" sz="1200" b="1" dirty="0" smtClean="0"/>
              <a:t>Strategy: </a:t>
            </a:r>
            <a:r>
              <a:rPr lang="en-US" sz="1200" dirty="0"/>
              <a:t>We defined two key strategies—Conservative to minimize risk and Aggressive to maximize growth—each driven by default prediction probabilities from our model</a:t>
            </a:r>
            <a:r>
              <a:rPr lang="en-US" sz="1200" dirty="0" smtClean="0"/>
              <a:t>.</a:t>
            </a:r>
          </a:p>
          <a:p>
            <a:pPr marL="0" lvl="0" indent="0">
              <a:buNone/>
            </a:pPr>
            <a:endParaRPr lang="en-US" sz="1200" dirty="0" smtClean="0"/>
          </a:p>
          <a:p>
            <a:pPr marL="0" lvl="0" indent="0">
              <a:buNone/>
            </a:pPr>
            <a:r>
              <a:rPr lang="en-US" sz="1200" dirty="0"/>
              <a:t>We recommend the Conservative strategy (Threshold = 0.1) as it maintains both a low default rate (&lt;2%) and positive profit margin, meeting business risk appetite and stop-loss guidelines</a:t>
            </a:r>
            <a:endParaRPr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57" y="3409490"/>
            <a:ext cx="8610600" cy="80042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857590"/>
              </p:ext>
            </p:extLst>
          </p:nvPr>
        </p:nvGraphicFramePr>
        <p:xfrm>
          <a:off x="1735217" y="1024971"/>
          <a:ext cx="6163466" cy="4006926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2161659">
                  <a:extLst>
                    <a:ext uri="{9D8B030D-6E8A-4147-A177-3AD203B41FA5}">
                      <a16:colId xmlns:a16="http://schemas.microsoft.com/office/drawing/2014/main" val="6361948"/>
                    </a:ext>
                  </a:extLst>
                </a:gridCol>
                <a:gridCol w="2195863">
                  <a:extLst>
                    <a:ext uri="{9D8B030D-6E8A-4147-A177-3AD203B41FA5}">
                      <a16:colId xmlns:a16="http://schemas.microsoft.com/office/drawing/2014/main" val="2883968873"/>
                    </a:ext>
                  </a:extLst>
                </a:gridCol>
                <a:gridCol w="1805944">
                  <a:extLst>
                    <a:ext uri="{9D8B030D-6E8A-4147-A177-3AD203B41FA5}">
                      <a16:colId xmlns:a16="http://schemas.microsoft.com/office/drawing/2014/main" val="2888838698"/>
                    </a:ext>
                  </a:extLst>
                </a:gridCol>
              </a:tblGrid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Category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# Observations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Default Rate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69768157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13 Months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77,348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22.94%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6783667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12 Months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37.87%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22276599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11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1,159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44.09%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154394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10 Months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1,329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46.58%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0956567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9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1,278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43.58%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3400643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8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1,169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45.08%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4563329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7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1,046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41.49%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4600868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6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1,109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41.30%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3497021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5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39.44%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0979070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4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938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43.07%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6359792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3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1,158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35.75%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0672262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+mn-lt"/>
                        </a:rPr>
                        <a:t>2 Months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1,217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31.22%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0761855"/>
                  </a:ext>
                </a:extLst>
              </a:tr>
              <a:tr h="2862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 Month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 smtClean="0">
                          <a:latin typeface="+mn-lt"/>
                        </a:rPr>
                        <a:t>33.13%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41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26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Features</a:t>
            </a:r>
            <a:endParaRPr dirty="0"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1052550" y="27007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graphicFrame>
        <p:nvGraphicFramePr>
          <p:cNvPr id="168" name="Google Shape;168;p18"/>
          <p:cNvGraphicFramePr/>
          <p:nvPr>
            <p:extLst>
              <p:ext uri="{D42A27DB-BD31-4B8C-83A1-F6EECF244321}">
                <p14:modId xmlns:p14="http://schemas.microsoft.com/office/powerpoint/2010/main" val="4061104912"/>
              </p:ext>
            </p:extLst>
          </p:nvPr>
        </p:nvGraphicFramePr>
        <p:xfrm>
          <a:off x="2088190" y="1307850"/>
          <a:ext cx="5854331" cy="2447298"/>
        </p:xfrm>
        <a:graphic>
          <a:graphicData uri="http://schemas.openxmlformats.org/drawingml/2006/table">
            <a:tbl>
              <a:tblPr>
                <a:tableStyleId>{71A53393-FB41-42BB-97F2-CB3111F40398}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Category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Number of Features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1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61925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Tx/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D_* = Delinquency variables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+mn-lt"/>
                          <a:sym typeface="Lato"/>
                        </a:rPr>
                        <a:t>96</a:t>
                      </a:r>
                      <a:endParaRPr sz="120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2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61925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Tx/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S_* = Spend variables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22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3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61925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Tx/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P_* = Payment variables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+mn-lt"/>
                          <a:sym typeface="Lato"/>
                        </a:rPr>
                        <a:t>3</a:t>
                      </a:r>
                      <a:endParaRPr sz="120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4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61925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Tx/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B_* = Balance variables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+mn-lt"/>
                          <a:sym typeface="Lato"/>
                        </a:rPr>
                        <a:t>40</a:t>
                      </a:r>
                      <a:endParaRPr sz="120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latin typeface="+mn-lt"/>
                          <a:sym typeface="Lato"/>
                        </a:rPr>
                        <a:t>5</a:t>
                      </a:r>
                      <a:endParaRPr sz="1200" b="1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161925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50"/>
                        <a:buFontTx/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R_* = Risk variables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latin typeface="+mn-lt"/>
                          <a:sym typeface="Lato"/>
                        </a:rPr>
                        <a:t>28</a:t>
                      </a:r>
                      <a:endParaRPr sz="1200" dirty="0">
                        <a:solidFill>
                          <a:schemeClr val="lt1"/>
                        </a:solidFill>
                        <a:latin typeface="+mn-lt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328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Feature Engineering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32464"/>
              </p:ext>
            </p:extLst>
          </p:nvPr>
        </p:nvGraphicFramePr>
        <p:xfrm>
          <a:off x="4847172" y="660184"/>
          <a:ext cx="3232298" cy="2455624"/>
        </p:xfrm>
        <a:graphic>
          <a:graphicData uri="http://schemas.openxmlformats.org/drawingml/2006/table">
            <a:tbl>
              <a:tblPr firstRow="1" bandRow="1">
                <a:tableStyleId>{71A53393-FB41-42BB-97F2-CB3111F40398}</a:tableStyleId>
              </a:tblPr>
              <a:tblGrid>
                <a:gridCol w="440246">
                  <a:extLst>
                    <a:ext uri="{9D8B030D-6E8A-4147-A177-3AD203B41FA5}">
                      <a16:colId xmlns:a16="http://schemas.microsoft.com/office/drawing/2014/main" val="2697735933"/>
                    </a:ext>
                  </a:extLst>
                </a:gridCol>
                <a:gridCol w="1462724">
                  <a:extLst>
                    <a:ext uri="{9D8B030D-6E8A-4147-A177-3AD203B41FA5}">
                      <a16:colId xmlns:a16="http://schemas.microsoft.com/office/drawing/2014/main" val="2144575193"/>
                    </a:ext>
                  </a:extLst>
                </a:gridCol>
                <a:gridCol w="1329328">
                  <a:extLst>
                    <a:ext uri="{9D8B030D-6E8A-4147-A177-3AD203B41FA5}">
                      <a16:colId xmlns:a16="http://schemas.microsoft.com/office/drawing/2014/main" val="2126871654"/>
                    </a:ext>
                  </a:extLst>
                </a:gridCol>
              </a:tblGrid>
              <a:tr h="306953">
                <a:tc>
                  <a:txBody>
                    <a:bodyPr/>
                    <a:lstStyle/>
                    <a:p>
                      <a:pPr algn="ctr"/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Category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# of Features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01316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1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*_min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967379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2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*_max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560085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3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*_median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708738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4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</a:t>
                      </a:r>
                      <a:r>
                        <a:rPr lang="en-US" sz="1200" dirty="0" err="1" smtClean="0">
                          <a:latin typeface="+mn-lt"/>
                        </a:rPr>
                        <a:t>std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665549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5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*_apr_2018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935018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6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*_avg_3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387091"/>
                  </a:ext>
                </a:extLst>
              </a:tr>
              <a:tr h="306953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7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*_avg_6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778511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"/>
          <a:stretch/>
        </p:blipFill>
        <p:spPr>
          <a:xfrm>
            <a:off x="1312637" y="1254642"/>
            <a:ext cx="2851559" cy="144610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20" y="3274799"/>
            <a:ext cx="7929341" cy="176310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005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Processing- One Hot Encoding</a:t>
            </a:r>
            <a:endParaRPr dirty="0"/>
          </a:p>
        </p:txBody>
      </p:sp>
      <p:sp>
        <p:nvSpPr>
          <p:cNvPr id="180" name="Google Shape;180;p19"/>
          <p:cNvSpPr txBox="1">
            <a:spLocks noGrp="1"/>
          </p:cNvSpPr>
          <p:nvPr>
            <p:ph type="body" idx="1"/>
          </p:nvPr>
        </p:nvSpPr>
        <p:spPr>
          <a:xfrm>
            <a:off x="925033" y="1116150"/>
            <a:ext cx="8077454" cy="19460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35714"/>
              </a:lnSpc>
              <a:buNone/>
            </a:pPr>
            <a:r>
              <a:rPr lang="en-IN" sz="1200" dirty="0" err="1">
                <a:solidFill>
                  <a:schemeClr val="tx1"/>
                </a:solidFill>
              </a:rPr>
              <a:t>categorical_vars</a:t>
            </a:r>
            <a:r>
              <a:rPr lang="en-IN" sz="1200" dirty="0">
                <a:solidFill>
                  <a:schemeClr val="tx1"/>
                </a:solidFill>
              </a:rPr>
              <a:t> = ['B_30', 'B_38', 'D_114', 'D_116', 'D_117', </a:t>
            </a:r>
            <a:r>
              <a:rPr lang="en-IN" sz="1200" dirty="0" smtClean="0">
                <a:solidFill>
                  <a:schemeClr val="tx1"/>
                </a:solidFill>
              </a:rPr>
              <a:t>'D_120</a:t>
            </a:r>
            <a:r>
              <a:rPr lang="en-IN" sz="1200" dirty="0">
                <a:solidFill>
                  <a:schemeClr val="tx1"/>
                </a:solidFill>
              </a:rPr>
              <a:t>', 'D_126', 'D_63', 'D_64', 'D_66', 'D_68</a:t>
            </a:r>
            <a:r>
              <a:rPr lang="en-IN" sz="1200" dirty="0" smtClean="0">
                <a:solidFill>
                  <a:schemeClr val="tx1"/>
                </a:solidFill>
              </a:rPr>
              <a:t>'] </a:t>
            </a:r>
            <a:r>
              <a:rPr lang="en-IN" sz="1200" dirty="0" err="1" smtClean="0">
                <a:solidFill>
                  <a:schemeClr val="tx1"/>
                </a:solidFill>
              </a:rPr>
              <a:t>df</a:t>
            </a:r>
            <a:r>
              <a:rPr lang="en-IN" sz="1200" dirty="0" smtClean="0">
                <a:solidFill>
                  <a:schemeClr val="tx1"/>
                </a:solidFill>
              </a:rPr>
              <a:t>[</a:t>
            </a:r>
            <a:r>
              <a:rPr lang="en-IN" sz="1200" dirty="0" err="1" smtClean="0">
                <a:solidFill>
                  <a:schemeClr val="tx1"/>
                </a:solidFill>
              </a:rPr>
              <a:t>categorical_vars</a:t>
            </a:r>
            <a:r>
              <a:rPr lang="en-IN" sz="1200" dirty="0">
                <a:solidFill>
                  <a:schemeClr val="tx1"/>
                </a:solidFill>
              </a:rPr>
              <a:t>] = </a:t>
            </a:r>
            <a:r>
              <a:rPr lang="en-IN" sz="1200" dirty="0" err="1">
                <a:solidFill>
                  <a:schemeClr val="tx1"/>
                </a:solidFill>
              </a:rPr>
              <a:t>df</a:t>
            </a:r>
            <a:r>
              <a:rPr lang="en-IN" sz="1200" dirty="0">
                <a:solidFill>
                  <a:schemeClr val="tx1"/>
                </a:solidFill>
              </a:rPr>
              <a:t>[</a:t>
            </a:r>
            <a:r>
              <a:rPr lang="en-IN" sz="1200" dirty="0" err="1">
                <a:solidFill>
                  <a:schemeClr val="tx1"/>
                </a:solidFill>
              </a:rPr>
              <a:t>categorical_vars</a:t>
            </a:r>
            <a:r>
              <a:rPr lang="en-IN" sz="1200" dirty="0">
                <a:solidFill>
                  <a:schemeClr val="tx1"/>
                </a:solidFill>
              </a:rPr>
              <a:t>].</a:t>
            </a:r>
            <a:r>
              <a:rPr lang="en-IN" sz="1200" dirty="0" err="1" smtClean="0">
                <a:solidFill>
                  <a:schemeClr val="tx1"/>
                </a:solidFill>
              </a:rPr>
              <a:t>astype</a:t>
            </a:r>
            <a:r>
              <a:rPr lang="en-IN" sz="1200" dirty="0" smtClean="0">
                <a:solidFill>
                  <a:schemeClr val="tx1"/>
                </a:solidFill>
              </a:rPr>
              <a:t>(</a:t>
            </a:r>
            <a:r>
              <a:rPr lang="en-IN" sz="1200" dirty="0" err="1" smtClean="0">
                <a:solidFill>
                  <a:schemeClr val="tx1"/>
                </a:solidFill>
              </a:rPr>
              <a:t>str</a:t>
            </a:r>
            <a:endParaRPr lang="en-IN" sz="1200" dirty="0" smtClean="0">
              <a:solidFill>
                <a:schemeClr val="tx1"/>
              </a:solidFill>
            </a:endParaRPr>
          </a:p>
          <a:p>
            <a:pPr marL="0" lvl="0" indent="0">
              <a:lnSpc>
                <a:spcPct val="135714"/>
              </a:lnSpc>
              <a:buNone/>
            </a:pPr>
            <a:r>
              <a:rPr lang="en-IN" sz="1200" dirty="0" err="1" smtClean="0">
                <a:solidFill>
                  <a:schemeClr val="tx1"/>
                </a:solidFill>
              </a:rPr>
              <a:t>df</a:t>
            </a:r>
            <a:r>
              <a:rPr lang="en-IN" sz="1200" dirty="0" smtClean="0">
                <a:solidFill>
                  <a:schemeClr val="tx1"/>
                </a:solidFill>
              </a:rPr>
              <a:t> </a:t>
            </a:r>
            <a:r>
              <a:rPr lang="en-IN" sz="1200" dirty="0">
                <a:solidFill>
                  <a:schemeClr val="tx1"/>
                </a:solidFill>
              </a:rPr>
              <a:t>= </a:t>
            </a:r>
            <a:r>
              <a:rPr lang="en-IN" sz="1200" dirty="0" err="1">
                <a:solidFill>
                  <a:schemeClr val="tx1"/>
                </a:solidFill>
              </a:rPr>
              <a:t>pd.get_dummies</a:t>
            </a:r>
            <a:r>
              <a:rPr lang="en-IN" sz="1200" dirty="0">
                <a:solidFill>
                  <a:schemeClr val="tx1"/>
                </a:solidFill>
              </a:rPr>
              <a:t>(</a:t>
            </a:r>
            <a:r>
              <a:rPr lang="en-IN" sz="1200" dirty="0" err="1">
                <a:solidFill>
                  <a:schemeClr val="tx1"/>
                </a:solidFill>
              </a:rPr>
              <a:t>df</a:t>
            </a:r>
            <a:r>
              <a:rPr lang="en-IN" sz="1200" dirty="0">
                <a:solidFill>
                  <a:schemeClr val="tx1"/>
                </a:solidFill>
              </a:rPr>
              <a:t>, columns=</a:t>
            </a:r>
            <a:r>
              <a:rPr lang="en-IN" sz="1200" dirty="0" err="1">
                <a:solidFill>
                  <a:schemeClr val="tx1"/>
                </a:solidFill>
              </a:rPr>
              <a:t>categorical_vars</a:t>
            </a:r>
            <a:r>
              <a:rPr lang="en-IN" sz="1200" dirty="0">
                <a:solidFill>
                  <a:schemeClr val="tx1"/>
                </a:solidFill>
              </a:rPr>
              <a:t>, </a:t>
            </a:r>
            <a:r>
              <a:rPr lang="en-IN" sz="1200" dirty="0" err="1">
                <a:solidFill>
                  <a:schemeClr val="tx1"/>
                </a:solidFill>
              </a:rPr>
              <a:t>dummy_na</a:t>
            </a:r>
            <a:r>
              <a:rPr lang="en-IN" sz="1200" dirty="0">
                <a:solidFill>
                  <a:schemeClr val="tx1"/>
                </a:solidFill>
              </a:rPr>
              <a:t>=True</a:t>
            </a:r>
            <a:r>
              <a:rPr lang="en-IN" sz="1200" dirty="0" smtClean="0">
                <a:solidFill>
                  <a:schemeClr val="tx1"/>
                </a:solidFill>
              </a:rPr>
              <a:t>)</a:t>
            </a:r>
          </a:p>
          <a:p>
            <a:pPr marL="0" lvl="0" indent="0">
              <a:lnSpc>
                <a:spcPct val="135714"/>
              </a:lnSpc>
              <a:buNone/>
            </a:pPr>
            <a:endParaRPr lang="en-IN" sz="1200" dirty="0">
              <a:solidFill>
                <a:schemeClr val="tx1"/>
              </a:solidFill>
            </a:endParaRPr>
          </a:p>
          <a:p>
            <a:pPr marL="0" lvl="0" indent="0">
              <a:lnSpc>
                <a:spcPct val="135714"/>
              </a:lnSpc>
              <a:buNone/>
            </a:pPr>
            <a:r>
              <a:rPr lang="en" sz="1200" b="1" dirty="0" smtClean="0">
                <a:solidFill>
                  <a:schemeClr val="tx1"/>
                </a:solidFill>
              </a:rPr>
              <a:t>Result</a:t>
            </a:r>
            <a:r>
              <a:rPr lang="en" sz="1200" dirty="0" smtClean="0">
                <a:solidFill>
                  <a:schemeClr val="tx1"/>
                </a:solidFill>
              </a:rPr>
              <a:t> – below is an example for 5 different customers, and the one hot encoded columns for B_30 column</a:t>
            </a:r>
            <a:endParaRPr sz="1200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418" y="2556022"/>
            <a:ext cx="6393158" cy="230199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Selection</a:t>
            </a:r>
            <a:endParaRPr dirty="0"/>
          </a:p>
        </p:txBody>
      </p:sp>
      <p:sp>
        <p:nvSpPr>
          <p:cNvPr id="187" name="Google Shape;187;p20"/>
          <p:cNvSpPr txBox="1">
            <a:spLocks noGrp="1"/>
          </p:cNvSpPr>
          <p:nvPr>
            <p:ph type="body" idx="1"/>
          </p:nvPr>
        </p:nvSpPr>
        <p:spPr>
          <a:xfrm>
            <a:off x="904169" y="914641"/>
            <a:ext cx="3912781" cy="42288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Initial </a:t>
            </a:r>
            <a:r>
              <a:rPr lang="en-US" sz="1200" b="1" dirty="0" err="1"/>
              <a:t>XGBoost</a:t>
            </a:r>
            <a:r>
              <a:rPr lang="en-US" sz="1200" b="1" dirty="0"/>
              <a:t> Model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was first trained using default parameters to analyze the relative importance of each feature in predicting the target variable.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smtClean="0"/>
              <a:t>Refined </a:t>
            </a:r>
            <a:r>
              <a:rPr lang="en-US" sz="1200" b="1" dirty="0" err="1"/>
              <a:t>XGBoost</a:t>
            </a:r>
            <a:r>
              <a:rPr lang="en-US" sz="1200" b="1" dirty="0"/>
              <a:t> Model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To enhance predictive performance, the model was refined by setting the number of trees to 300, the maximum depth to 4, and the learning rate to </a:t>
            </a:r>
            <a:r>
              <a:rPr lang="en-US" sz="1200" dirty="0" smtClean="0"/>
              <a:t>0.5. </a:t>
            </a:r>
            <a:r>
              <a:rPr lang="en-US" sz="1200" dirty="0"/>
              <a:t>This adjustment provided deeper insights into feature importance and improved model accuracy.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smtClean="0"/>
              <a:t>Final </a:t>
            </a:r>
            <a:r>
              <a:rPr lang="en-US" sz="1200" b="1" dirty="0"/>
              <a:t>Feature Selection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Features with an importance score above 0.5% were selected and compiled into a final feature set. This step ensures that only the most relevant variables are retained, contributing to the development of a more efficient and accurate predictive model</a:t>
            </a:r>
            <a:r>
              <a:rPr lang="en-US" sz="1200" dirty="0" smtClean="0"/>
              <a:t>.</a:t>
            </a:r>
            <a:endParaRPr lang="en-US" sz="1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723673"/>
              </p:ext>
            </p:extLst>
          </p:nvPr>
        </p:nvGraphicFramePr>
        <p:xfrm>
          <a:off x="5210281" y="848235"/>
          <a:ext cx="3221665" cy="2377440"/>
        </p:xfrm>
        <a:graphic>
          <a:graphicData uri="http://schemas.openxmlformats.org/drawingml/2006/table">
            <a:tbl>
              <a:tblPr firstRow="1" bandRow="1">
                <a:tableStyleId>{71A53393-FB41-42BB-97F2-CB3111F40398}</a:tableStyleId>
              </a:tblPr>
              <a:tblGrid>
                <a:gridCol w="303260">
                  <a:extLst>
                    <a:ext uri="{9D8B030D-6E8A-4147-A177-3AD203B41FA5}">
                      <a16:colId xmlns:a16="http://schemas.microsoft.com/office/drawing/2014/main" val="2697735933"/>
                    </a:ext>
                  </a:extLst>
                </a:gridCol>
                <a:gridCol w="1007586">
                  <a:extLst>
                    <a:ext uri="{9D8B030D-6E8A-4147-A177-3AD203B41FA5}">
                      <a16:colId xmlns:a16="http://schemas.microsoft.com/office/drawing/2014/main" val="2144575193"/>
                    </a:ext>
                  </a:extLst>
                </a:gridCol>
                <a:gridCol w="1073501">
                  <a:extLst>
                    <a:ext uri="{9D8B030D-6E8A-4147-A177-3AD203B41FA5}">
                      <a16:colId xmlns:a16="http://schemas.microsoft.com/office/drawing/2014/main" val="2126871654"/>
                    </a:ext>
                  </a:extLst>
                </a:gridCol>
                <a:gridCol w="837318">
                  <a:extLst>
                    <a:ext uri="{9D8B030D-6E8A-4147-A177-3AD203B41FA5}">
                      <a16:colId xmlns:a16="http://schemas.microsoft.com/office/drawing/2014/main" val="2795849843"/>
                    </a:ext>
                  </a:extLst>
                </a:gridCol>
              </a:tblGrid>
              <a:tr h="228479">
                <a:tc>
                  <a:txBody>
                    <a:bodyPr/>
                    <a:lstStyle/>
                    <a:p>
                      <a:pPr algn="ctr"/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Category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# of Features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# selected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01316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1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*_min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967379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2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*_max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2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560085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3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*_median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708738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4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</a:t>
                      </a:r>
                      <a:r>
                        <a:rPr lang="en-US" sz="1200" dirty="0" err="1" smtClean="0">
                          <a:latin typeface="+mn-lt"/>
                        </a:rPr>
                        <a:t>std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665549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5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*_apr_2018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0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935018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6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*_avg_3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7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387091"/>
                  </a:ext>
                </a:extLst>
              </a:tr>
              <a:tr h="22847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+mn-lt"/>
                        </a:rPr>
                        <a:t>7</a:t>
                      </a:r>
                      <a:endParaRPr lang="en-IN" sz="12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*_avg_6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175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6</a:t>
                      </a:r>
                      <a:endParaRPr lang="en-IN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77851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720855" y="3680158"/>
            <a:ext cx="4423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 err="1"/>
              <a:t>Selected_Features</a:t>
            </a:r>
            <a:r>
              <a:rPr lang="en-IN" sz="1200" b="1" dirty="0"/>
              <a:t> </a:t>
            </a:r>
            <a:r>
              <a:rPr lang="en-IN" sz="1200" b="1" dirty="0" smtClean="0"/>
              <a:t>–</a:t>
            </a:r>
          </a:p>
          <a:p>
            <a:pPr marL="180975"/>
            <a:r>
              <a:rPr lang="en-IN" sz="1200" dirty="0" smtClean="0"/>
              <a:t>D_42_min</a:t>
            </a:r>
            <a:r>
              <a:rPr lang="en-IN" sz="1200" dirty="0"/>
              <a:t>, D_42_max, S_3_max, D_48_median, B_1_avg_3, B_2_avg_3, B_9_avg_3, B_11_avg_3, D_44_avg_3, P_2_avg_3, R_1_avg_3, D_42_avg_6, D_44_avg_6, D_48_avg_6, D_49_avg_6, P_2_avg_6, R_1_avg_6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28" y="212651"/>
            <a:ext cx="6563056" cy="474911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384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XGBoost- Grid Search</a:t>
            </a:r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body" idx="1"/>
          </p:nvPr>
        </p:nvSpPr>
        <p:spPr>
          <a:xfrm>
            <a:off x="552893" y="997898"/>
            <a:ext cx="4210493" cy="2149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Tx/>
              <a:buFont typeface="Arial" panose="020B0604020202020204" pitchFamily="34" charset="0"/>
              <a:buChar char="•"/>
            </a:pPr>
            <a:r>
              <a:rPr lang="en-US" sz="1200" dirty="0" smtClean="0"/>
              <a:t>Lessons learned</a:t>
            </a:r>
          </a:p>
          <a:p>
            <a:pPr marL="893763">
              <a:buClrTx/>
              <a:buFont typeface="Arial" panose="020B0604020202020204" pitchFamily="34" charset="0"/>
              <a:buChar char="•"/>
            </a:pPr>
            <a:r>
              <a:rPr lang="en-US" sz="1200" dirty="0"/>
              <a:t>Some models </a:t>
            </a:r>
            <a:r>
              <a:rPr lang="en-US" sz="1200" dirty="0" err="1"/>
              <a:t>overfit</a:t>
            </a:r>
            <a:r>
              <a:rPr lang="en-US" sz="1200" dirty="0"/>
              <a:t>: very high AUC on Train, but lower on </a:t>
            </a:r>
            <a:r>
              <a:rPr lang="en-US" sz="1200" dirty="0" smtClean="0"/>
              <a:t>Test1</a:t>
            </a:r>
          </a:p>
          <a:p>
            <a:pPr marL="893763">
              <a:buClrTx/>
              <a:buFont typeface="Arial" panose="020B0604020202020204" pitchFamily="34" charset="0"/>
              <a:buChar char="•"/>
            </a:pPr>
            <a:r>
              <a:rPr lang="en-US" sz="1200" dirty="0" err="1" smtClean="0"/>
              <a:t>scale_pos_weight</a:t>
            </a:r>
            <a:r>
              <a:rPr lang="en-US" sz="1200" dirty="0" smtClean="0"/>
              <a:t> = 5 gave the best balance (improved Test1 AUC)</a:t>
            </a:r>
            <a:endParaRPr lang="en-US" sz="1200" dirty="0" smtClean="0"/>
          </a:p>
          <a:p>
            <a:pPr marL="893763">
              <a:buClrTx/>
              <a:buFont typeface="Arial" panose="020B0604020202020204" pitchFamily="34" charset="0"/>
              <a:buChar char="•"/>
            </a:pPr>
            <a:r>
              <a:rPr lang="en-US" sz="1200" dirty="0" smtClean="0"/>
              <a:t>Adding </a:t>
            </a:r>
            <a:r>
              <a:rPr lang="en-US" sz="1200" dirty="0"/>
              <a:t>more trees led to marginal AUC gain but longer training </a:t>
            </a:r>
            <a:r>
              <a:rPr lang="en-US" sz="1200" dirty="0" smtClean="0"/>
              <a:t>time</a:t>
            </a:r>
          </a:p>
          <a:p>
            <a:pPr marL="893763">
              <a:buClrTx/>
              <a:buFont typeface="Arial" panose="020B0604020202020204" pitchFamily="34" charset="0"/>
              <a:buChar char="•"/>
            </a:pPr>
            <a:r>
              <a:rPr lang="en-US" sz="1200" dirty="0" err="1" smtClean="0"/>
              <a:t>learning_rate</a:t>
            </a:r>
            <a:r>
              <a:rPr lang="en-US" sz="1200" dirty="0" smtClean="0"/>
              <a:t> </a:t>
            </a:r>
            <a:r>
              <a:rPr lang="en-US" sz="1200" dirty="0"/>
              <a:t>= 0.1 worked best with deeper </a:t>
            </a:r>
            <a:r>
              <a:rPr lang="en-US" sz="1200" dirty="0" smtClean="0"/>
              <a:t>trees</a:t>
            </a:r>
          </a:p>
          <a:p>
            <a:pPr marL="893763">
              <a:buClrTx/>
              <a:buFont typeface="Arial" panose="020B0604020202020204" pitchFamily="34" charset="0"/>
              <a:buChar char="•"/>
            </a:pPr>
            <a:r>
              <a:rPr lang="en-US" sz="1200" dirty="0" smtClean="0"/>
              <a:t>Class </a:t>
            </a:r>
            <a:r>
              <a:rPr lang="en-US" sz="1200" dirty="0"/>
              <a:t>imbalance was handled well with </a:t>
            </a:r>
            <a:r>
              <a:rPr lang="en-US" sz="1200" dirty="0" err="1"/>
              <a:t>scale_pos_weight</a:t>
            </a:r>
            <a:r>
              <a:rPr lang="en-US" sz="1200" dirty="0"/>
              <a:t> tuning</a:t>
            </a:r>
            <a:endParaRPr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1" r="25634"/>
          <a:stretch/>
        </p:blipFill>
        <p:spPr>
          <a:xfrm>
            <a:off x="4859480" y="138568"/>
            <a:ext cx="4074720" cy="47497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131"/>
          <a:stretch/>
        </p:blipFill>
        <p:spPr>
          <a:xfrm>
            <a:off x="467832" y="3172261"/>
            <a:ext cx="4295554" cy="189685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63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XGBoost- Grid Search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17" b="2382"/>
          <a:stretch/>
        </p:blipFill>
        <p:spPr>
          <a:xfrm>
            <a:off x="553054" y="956930"/>
            <a:ext cx="3891354" cy="289104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34" y="4102464"/>
            <a:ext cx="3831073" cy="31362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81"/>
          <a:stretch/>
        </p:blipFill>
        <p:spPr>
          <a:xfrm>
            <a:off x="4816950" y="956930"/>
            <a:ext cx="3982754" cy="28877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50" y="4102464"/>
            <a:ext cx="3790866" cy="29771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1215306" y="325001"/>
            <a:ext cx="3781996" cy="663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XGBoost- Final Model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0"/>
          <a:stretch/>
        </p:blipFill>
        <p:spPr>
          <a:xfrm>
            <a:off x="501085" y="1371601"/>
            <a:ext cx="4839987" cy="27857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175"/>
          <a:stretch/>
        </p:blipFill>
        <p:spPr>
          <a:xfrm>
            <a:off x="5470345" y="1620081"/>
            <a:ext cx="3501646" cy="226080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XGBoost- SHAP Analysis</a:t>
            </a:r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body" idx="1"/>
          </p:nvPr>
        </p:nvSpPr>
        <p:spPr>
          <a:xfrm>
            <a:off x="968366" y="928281"/>
            <a:ext cx="3734700" cy="4108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 smtClean="0"/>
              <a:t>P_2_avg_3 </a:t>
            </a:r>
            <a:r>
              <a:rPr lang="en-US" sz="1200" dirty="0"/>
              <a:t>(3-month average of P_2) is the strongest predictor — higher values significantly increase default risk.</a:t>
            </a:r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Behavioral Insight: Features like S_3_max and B_2_avg_3 also raise default probability when high, suggesting risky recent spending and balance patterns.</a:t>
            </a:r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Inverse Patterns: Lower values of D_44_avg_3, R_1_avg_3, and B_1_avg_3 are associated with increased risk — indicating certain low usage or behavior flags risk.</a:t>
            </a:r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82600" lvl="0" indent="-3429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Temporal Comparison: 3-month (_avg_3) versions of features generally have more predictive power than 6-month (_avg_6) averages.</a:t>
            </a:r>
            <a:endParaRPr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79"/>
          <a:stretch/>
        </p:blipFill>
        <p:spPr>
          <a:xfrm>
            <a:off x="4942516" y="931484"/>
            <a:ext cx="3723018" cy="37255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>
            <a:spLocks noGrp="1"/>
          </p:cNvSpPr>
          <p:nvPr>
            <p:ph type="title"/>
          </p:nvPr>
        </p:nvSpPr>
        <p:spPr>
          <a:xfrm>
            <a:off x="1212440" y="303940"/>
            <a:ext cx="7038900" cy="5468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XGBoost- SHAP Analysis</a:t>
            </a:r>
            <a:endParaRPr dirty="0"/>
          </a:p>
        </p:txBody>
      </p:sp>
      <p:sp>
        <p:nvSpPr>
          <p:cNvPr id="230" name="Google Shape;230;p25"/>
          <p:cNvSpPr txBox="1">
            <a:spLocks noGrp="1"/>
          </p:cNvSpPr>
          <p:nvPr>
            <p:ph type="body" idx="1"/>
          </p:nvPr>
        </p:nvSpPr>
        <p:spPr>
          <a:xfrm>
            <a:off x="932770" y="727477"/>
            <a:ext cx="3997842" cy="3030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P_2_avg_3 (recent payment behavior) has the strongest impact, significantly reducing the predicted risk of default.</a:t>
            </a:r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Features like B_2_avg_3 (balance) and S_3_max (spend spikes) also help classify the customer as low risk.</a:t>
            </a:r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The cumulative effect of top features pulls the model output from -1.11 (average) to -6.45, indicating high creditworthiness.</a:t>
            </a:r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444183" indent="-28575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The plot explains exactly which features drive the prediction, enabling transparent and actionable decisions.</a:t>
            </a:r>
            <a:endParaRPr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70"/>
          <a:stretch/>
        </p:blipFill>
        <p:spPr>
          <a:xfrm>
            <a:off x="4930612" y="584790"/>
            <a:ext cx="4096430" cy="447857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13" r="10397" b="4136"/>
          <a:stretch/>
        </p:blipFill>
        <p:spPr>
          <a:xfrm>
            <a:off x="1691309" y="3655596"/>
            <a:ext cx="2760435" cy="140776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Network- Data Processing</a:t>
            </a:r>
            <a:endParaRPr/>
          </a:p>
        </p:txBody>
      </p:sp>
      <p:sp>
        <p:nvSpPr>
          <p:cNvPr id="238" name="Google Shape;238;p26"/>
          <p:cNvSpPr txBox="1">
            <a:spLocks noGrp="1"/>
          </p:cNvSpPr>
          <p:nvPr>
            <p:ph type="body" idx="1"/>
          </p:nvPr>
        </p:nvSpPr>
        <p:spPr>
          <a:xfrm>
            <a:off x="691117" y="3672279"/>
            <a:ext cx="8452883" cy="16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75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All missing values in the dataset were imputed with 0, assuming they represent absence or zero activity.</a:t>
            </a:r>
          </a:p>
          <a:p>
            <a:pPr lvl="0" indent="-317500">
              <a:buClrTx/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 indent="-3175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Outliers were capped at the 1st and 99th percentiles using statistics from the training set to ensure model stability and prevent skewed learning.</a:t>
            </a:r>
          </a:p>
          <a:p>
            <a:pPr lvl="0" indent="-317500">
              <a:buClrTx/>
              <a:buSzPts val="1400"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 indent="-317500">
              <a:buClrTx/>
              <a:buSzPts val="1400"/>
              <a:buFont typeface="Arial" panose="020B0604020202020204" pitchFamily="34" charset="0"/>
              <a:buChar char="•"/>
            </a:pPr>
            <a:r>
              <a:rPr lang="en-US" sz="1200" dirty="0"/>
              <a:t>We used </a:t>
            </a:r>
            <a:r>
              <a:rPr lang="en-US" sz="1200" dirty="0" err="1"/>
              <a:t>StandardScaler</a:t>
            </a:r>
            <a:r>
              <a:rPr lang="en-US" sz="1200" dirty="0"/>
              <a:t> to apply Z-score normalization, fitting on the train set only and applying to test sets to avoid data leakage.</a:t>
            </a:r>
            <a:endParaRPr sz="1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786" y="876903"/>
            <a:ext cx="5370328" cy="27953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>
            <a:spLocks noGrp="1"/>
          </p:cNvSpPr>
          <p:nvPr>
            <p:ph type="title"/>
          </p:nvPr>
        </p:nvSpPr>
        <p:spPr>
          <a:xfrm>
            <a:off x="1297500" y="384225"/>
            <a:ext cx="63123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Neural Network- Grid Search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07"/>
          <a:stretch/>
        </p:blipFill>
        <p:spPr>
          <a:xfrm>
            <a:off x="474562" y="841275"/>
            <a:ext cx="3979088" cy="417593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1" b="22691"/>
          <a:stretch/>
        </p:blipFill>
        <p:spPr>
          <a:xfrm>
            <a:off x="4662943" y="841275"/>
            <a:ext cx="4328563" cy="19351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4662943" y="2893554"/>
            <a:ext cx="432856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Overfitting </a:t>
            </a:r>
            <a:r>
              <a:rPr lang="en-US" sz="1200" b="1" dirty="0" smtClean="0"/>
              <a:t>Risk</a:t>
            </a:r>
            <a:r>
              <a:rPr lang="en-US" sz="1200" dirty="0" smtClean="0"/>
              <a:t>: Models </a:t>
            </a:r>
            <a:r>
              <a:rPr lang="en-US" sz="1200" dirty="0"/>
              <a:t>with no dropout and </a:t>
            </a:r>
            <a:r>
              <a:rPr lang="en-US" sz="1200" dirty="0" err="1"/>
              <a:t>ReLU</a:t>
            </a:r>
            <a:r>
              <a:rPr lang="en-US" sz="1200" dirty="0"/>
              <a:t> activation </a:t>
            </a:r>
            <a:r>
              <a:rPr lang="en-US" sz="1200" dirty="0" err="1"/>
              <a:t>overfitted</a:t>
            </a:r>
            <a:r>
              <a:rPr lang="en-US" sz="1200" dirty="0"/>
              <a:t> more — high AUC on train but much lower on test sets</a:t>
            </a:r>
            <a:r>
              <a:rPr lang="en-US" sz="1200" dirty="0" smtClean="0"/>
              <a:t>.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Best </a:t>
            </a:r>
            <a:r>
              <a:rPr lang="en-US" sz="1200" b="1" dirty="0" smtClean="0"/>
              <a:t>Balance</a:t>
            </a:r>
            <a:r>
              <a:rPr lang="en-US" sz="1200" dirty="0" smtClean="0"/>
              <a:t>: A </a:t>
            </a:r>
            <a:r>
              <a:rPr lang="en-US" sz="1200" dirty="0"/>
              <a:t>configuration with 4 hidden layers, 6 nodes, </a:t>
            </a:r>
            <a:r>
              <a:rPr lang="en-US" sz="1200" dirty="0" err="1"/>
              <a:t>Tanh</a:t>
            </a:r>
            <a:r>
              <a:rPr lang="en-US" sz="1200" dirty="0"/>
              <a:t>, 50% dropout, and batch size 100 gave the most balanced AUCs</a:t>
            </a:r>
            <a:r>
              <a:rPr lang="en-US" sz="1200" dirty="0" smtClean="0"/>
              <a:t>.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Batch Size </a:t>
            </a:r>
            <a:r>
              <a:rPr lang="en-US" sz="1200" b="1" dirty="0" smtClean="0"/>
              <a:t>Impact</a:t>
            </a:r>
            <a:r>
              <a:rPr lang="en-US" sz="1200" dirty="0" smtClean="0"/>
              <a:t>: Smaller </a:t>
            </a:r>
            <a:r>
              <a:rPr lang="en-US" sz="1200" dirty="0"/>
              <a:t>batch sizes (100) generally led to better generalization than 10,000</a:t>
            </a:r>
            <a:r>
              <a:rPr lang="en-US" sz="1200" dirty="0" smtClean="0"/>
              <a:t>.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err="1"/>
              <a:t>Tanh</a:t>
            </a:r>
            <a:r>
              <a:rPr lang="en-US" sz="1200" b="1" dirty="0"/>
              <a:t> Outperformed </a:t>
            </a:r>
            <a:r>
              <a:rPr lang="en-US" sz="1200" b="1" dirty="0" err="1" smtClean="0"/>
              <a:t>ReLU</a:t>
            </a:r>
            <a:r>
              <a:rPr lang="en-US" sz="1200" dirty="0" smtClean="0"/>
              <a:t>: In </a:t>
            </a:r>
            <a:r>
              <a:rPr lang="en-US" sz="1200" dirty="0"/>
              <a:t>several cases, </a:t>
            </a:r>
            <a:r>
              <a:rPr lang="en-US" sz="1200" dirty="0" err="1"/>
              <a:t>Tanh</a:t>
            </a:r>
            <a:r>
              <a:rPr lang="en-US" sz="1200" dirty="0"/>
              <a:t> activation gave better stability and less variance across test sets.</a:t>
            </a:r>
            <a:endParaRPr lang="en-IN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5900742" cy="626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Neural </a:t>
            </a:r>
            <a:r>
              <a:rPr lang="en" dirty="0" smtClean="0"/>
              <a:t>Network-</a:t>
            </a:r>
            <a:r>
              <a:rPr lang="en" dirty="0"/>
              <a:t> </a:t>
            </a:r>
            <a:r>
              <a:rPr lang="en" dirty="0" smtClean="0"/>
              <a:t>Grid Search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63" y="3983203"/>
            <a:ext cx="3806899" cy="32180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8"/>
          <a:stretch/>
        </p:blipFill>
        <p:spPr>
          <a:xfrm>
            <a:off x="769663" y="1020726"/>
            <a:ext cx="3897401" cy="280782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878" y="3983203"/>
            <a:ext cx="3978404" cy="33330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64"/>
          <a:stretch/>
        </p:blipFill>
        <p:spPr>
          <a:xfrm>
            <a:off x="4969825" y="1020726"/>
            <a:ext cx="3923457" cy="28430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>
            <a:spLocks noGrp="1"/>
          </p:cNvSpPr>
          <p:nvPr>
            <p:ph type="title"/>
          </p:nvPr>
        </p:nvSpPr>
        <p:spPr>
          <a:xfrm>
            <a:off x="1215305" y="325001"/>
            <a:ext cx="4451847" cy="663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Neural Network- </a:t>
            </a:r>
            <a:r>
              <a:rPr lang="en" dirty="0"/>
              <a:t>Final Model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698" y="1705197"/>
            <a:ext cx="2771775" cy="17145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9" y="1158949"/>
            <a:ext cx="5529570" cy="309407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5168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Model</a:t>
            </a:r>
            <a:endParaRPr dirty="0"/>
          </a:p>
        </p:txBody>
      </p:sp>
      <p:sp>
        <p:nvSpPr>
          <p:cNvPr id="265" name="Google Shape;265;p29"/>
          <p:cNvSpPr txBox="1">
            <a:spLocks noGrp="1"/>
          </p:cNvSpPr>
          <p:nvPr>
            <p:ph type="body" idx="1"/>
          </p:nvPr>
        </p:nvSpPr>
        <p:spPr>
          <a:xfrm>
            <a:off x="467833" y="850800"/>
            <a:ext cx="8484781" cy="4146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US" sz="1200" dirty="0" err="1"/>
              <a:t>XGBoost</a:t>
            </a:r>
            <a:r>
              <a:rPr lang="en-US" sz="1200" dirty="0"/>
              <a:t> was chosen as the final model because it achieved the highest Test2 AUC of 0.9426, indicating better generalization to unseen data compared to the Neural Network (Test2 AUC = 0.9410).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US" sz="1200" dirty="0"/>
              <a:t>While both models performed well on Train and Test1, </a:t>
            </a:r>
            <a:r>
              <a:rPr lang="en-US" sz="1200" dirty="0" err="1"/>
              <a:t>XGBoost</a:t>
            </a:r>
            <a:r>
              <a:rPr lang="en-US" sz="1200" dirty="0"/>
              <a:t> maintained a stronger balance between bias and variance across all datasets.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US" sz="1200" dirty="0"/>
              <a:t>The Neural Network slightly </a:t>
            </a:r>
            <a:r>
              <a:rPr lang="en-US" sz="1200" dirty="0" err="1"/>
              <a:t>overfit</a:t>
            </a:r>
            <a:r>
              <a:rPr lang="en-US" sz="1200" dirty="0"/>
              <a:t>, with a higher AUC on Train (0.9446) but slightly lower generalization on Test2.</a:t>
            </a:r>
          </a:p>
          <a:p>
            <a:pPr lvl="0">
              <a:buClrTx/>
              <a:buFont typeface="Arial" panose="020B0604020202020204" pitchFamily="34" charset="0"/>
              <a:buChar char="•"/>
            </a:pPr>
            <a:endParaRPr lang="en-US" sz="1200" dirty="0"/>
          </a:p>
          <a:p>
            <a:pPr lvl="0">
              <a:buClrTx/>
              <a:buFont typeface="Arial" panose="020B0604020202020204" pitchFamily="34" charset="0"/>
              <a:buChar char="•"/>
            </a:pPr>
            <a:r>
              <a:rPr lang="en-US" sz="1200" dirty="0"/>
              <a:t>The AUC comparison table and chart (shown above) clearly support this decision by showcasing </a:t>
            </a:r>
            <a:r>
              <a:rPr lang="en-US" sz="1200" dirty="0" err="1"/>
              <a:t>XGBoost’s</a:t>
            </a:r>
            <a:r>
              <a:rPr lang="en-US" sz="1200" dirty="0"/>
              <a:t> superior performance on the final evaluation sample.</a:t>
            </a:r>
            <a:endParaRPr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387" y="3044677"/>
            <a:ext cx="4429125" cy="195262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Strategy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113" y="2443283"/>
            <a:ext cx="8418925" cy="27002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932" y="235607"/>
            <a:ext cx="3166468" cy="21444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545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Strategies</a:t>
            </a:r>
            <a:endParaRPr/>
          </a:p>
        </p:txBody>
      </p:sp>
      <p:sp>
        <p:nvSpPr>
          <p:cNvPr id="283" name="Google Shape;283;p31"/>
          <p:cNvSpPr txBox="1">
            <a:spLocks noGrp="1"/>
          </p:cNvSpPr>
          <p:nvPr>
            <p:ph type="body" idx="1"/>
          </p:nvPr>
        </p:nvSpPr>
        <p:spPr>
          <a:xfrm>
            <a:off x="446315" y="1066808"/>
            <a:ext cx="4405086" cy="3690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We defined conservative and aggressive strategies based on stop-loss and default thresholds, selecting optimal strategies to balance profit and risk</a:t>
            </a:r>
            <a:r>
              <a:rPr lang="en-US" sz="1400" dirty="0" smtClean="0"/>
              <a:t>.</a:t>
            </a:r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ClrTx/>
              <a:buSzPct val="100000"/>
              <a:buNone/>
            </a:pPr>
            <a:endParaRPr sz="1400" dirty="0" smtClean="0"/>
          </a:p>
          <a:p>
            <a:pPr lvl="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Conservative </a:t>
            </a:r>
            <a:r>
              <a:rPr lang="en-US" sz="1400" dirty="0" smtClean="0"/>
              <a:t>Strategy: Threshold </a:t>
            </a:r>
            <a:r>
              <a:rPr lang="en-US" sz="1400" dirty="0"/>
              <a:t>0.1 was chosen for its low default rate and minimal loss, ensuring stop-loss remains under 10</a:t>
            </a:r>
            <a:r>
              <a:rPr lang="en-US" sz="1400" dirty="0" smtClean="0"/>
              <a:t>%</a:t>
            </a:r>
          </a:p>
          <a:p>
            <a:pPr lvl="0">
              <a:buClrTx/>
              <a:buSzPct val="100000"/>
              <a:buFont typeface="Arial" panose="020B0604020202020204" pitchFamily="34" charset="0"/>
              <a:buChar char="•"/>
            </a:pPr>
            <a:endParaRPr sz="1400" dirty="0" smtClean="0"/>
          </a:p>
          <a:p>
            <a:pPr lvl="0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Aggressive </a:t>
            </a:r>
            <a:r>
              <a:rPr lang="en-US" sz="1400" dirty="0" smtClean="0"/>
              <a:t>Strategy: Threshold </a:t>
            </a:r>
            <a:r>
              <a:rPr lang="en-US" sz="1400" dirty="0"/>
              <a:t>0.6 allows broader acceptance with default rate below 10%, offering higher revenue while slightly exceeding </a:t>
            </a:r>
            <a:r>
              <a:rPr lang="en-US" sz="1400" dirty="0" smtClean="0"/>
              <a:t>stop-loss</a:t>
            </a:r>
            <a:endParaRPr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315" y="698400"/>
            <a:ext cx="4205513" cy="425808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5853</TotalTime>
  <Words>978</Words>
  <Application>Microsoft Office PowerPoint</Application>
  <PresentationFormat>On-screen Show (16:9)</PresentationFormat>
  <Paragraphs>193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Algerian</vt:lpstr>
      <vt:lpstr>Lato</vt:lpstr>
      <vt:lpstr>Century Gothic</vt:lpstr>
      <vt:lpstr>Wingdings 3</vt:lpstr>
      <vt:lpstr>Wisp</vt:lpstr>
      <vt:lpstr>Credit Risk Analysis Project</vt:lpstr>
      <vt:lpstr>Executive Summary</vt:lpstr>
      <vt:lpstr>Data</vt:lpstr>
      <vt:lpstr>Features</vt:lpstr>
      <vt:lpstr>Feature Engineering</vt:lpstr>
      <vt:lpstr>Data Processing- One Hot Encoding</vt:lpstr>
      <vt:lpstr>Feature Selection</vt:lpstr>
      <vt:lpstr>PowerPoint Presentation</vt:lpstr>
      <vt:lpstr>XGBoost- Grid Search</vt:lpstr>
      <vt:lpstr>XGBoost- Grid Search</vt:lpstr>
      <vt:lpstr>XGBoost- Final Model</vt:lpstr>
      <vt:lpstr>XGBoost- SHAP Analysis</vt:lpstr>
      <vt:lpstr>XGBoost- SHAP Analysis</vt:lpstr>
      <vt:lpstr>Neural Network- Data Processing</vt:lpstr>
      <vt:lpstr>Neural Network- Grid Search</vt:lpstr>
      <vt:lpstr>Neural Network- Grid Search</vt:lpstr>
      <vt:lpstr>Neural Network- Final Model</vt:lpstr>
      <vt:lpstr>Final Model</vt:lpstr>
      <vt:lpstr>Strategy</vt:lpstr>
      <vt:lpstr>Strategies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Analysis Project</dc:title>
  <cp:lastModifiedBy>Agrawal, Manyata</cp:lastModifiedBy>
  <cp:revision>83</cp:revision>
  <dcterms:modified xsi:type="dcterms:W3CDTF">2025-04-05T13:27:22Z</dcterms:modified>
</cp:coreProperties>
</file>